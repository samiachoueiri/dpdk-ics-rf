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  <p:embeddedFont>
      <p:font typeface="Montserrat SemiBold" panose="000007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44E19-A458-4FEB-A6CC-2F2AF6C5CAD3}" v="4" dt="2026-03-17T01:44:29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ueiri, Samia" userId="b81b9bbb-c87f-490f-9bf9-c5942ec705de" providerId="ADAL" clId="{7FA5B06B-172D-4B88-BD14-3DAB9785FB6E}"/>
    <pc:docChg chg="undo custSel modSld">
      <pc:chgData name="Choueiri, Samia" userId="b81b9bbb-c87f-490f-9bf9-c5942ec705de" providerId="ADAL" clId="{7FA5B06B-172D-4B88-BD14-3DAB9785FB6E}" dt="2026-03-17T01:46:55.533" v="44" actId="20577"/>
      <pc:docMkLst>
        <pc:docMk/>
      </pc:docMkLst>
      <pc:sldChg chg="modSp mod">
        <pc:chgData name="Choueiri, Samia" userId="b81b9bbb-c87f-490f-9bf9-c5942ec705de" providerId="ADAL" clId="{7FA5B06B-172D-4B88-BD14-3DAB9785FB6E}" dt="2026-03-17T01:46:55.533" v="44" actId="20577"/>
        <pc:sldMkLst>
          <pc:docMk/>
          <pc:sldMk cId="0" sldId="257"/>
        </pc:sldMkLst>
        <pc:spChg chg="mod">
          <ac:chgData name="Choueiri, Samia" userId="b81b9bbb-c87f-490f-9bf9-c5942ec705de" providerId="ADAL" clId="{7FA5B06B-172D-4B88-BD14-3DAB9785FB6E}" dt="2026-03-17T01:46:55.533" v="44" actId="20577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Choueiri, Samia" userId="b81b9bbb-c87f-490f-9bf9-c5942ec705de" providerId="ADAL" clId="{7FA5B06B-172D-4B88-BD14-3DAB9785FB6E}" dt="2026-03-12T17:52:44.486" v="17" actId="1076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houeiri, Samia" userId="b81b9bbb-c87f-490f-9bf9-c5942ec705de" providerId="ADAL" clId="{7FA5B06B-172D-4B88-BD14-3DAB9785FB6E}" dt="2026-03-17T01:45:39.919" v="28" actId="207"/>
          <ac:spMkLst>
            <pc:docMk/>
            <pc:sldMk cId="0" sldId="257"/>
            <ac:spMk id="107" creationId="{00000000-0000-0000-0000-000000000000}"/>
          </ac:spMkLst>
        </pc:spChg>
      </pc:sldChg>
      <pc:sldChg chg="modSp mod">
        <pc:chgData name="Choueiri, Samia" userId="b81b9bbb-c87f-490f-9bf9-c5942ec705de" providerId="ADAL" clId="{7FA5B06B-172D-4B88-BD14-3DAB9785FB6E}" dt="2026-03-16T13:25:11.878" v="19" actId="20577"/>
        <pc:sldMkLst>
          <pc:docMk/>
          <pc:sldMk cId="0" sldId="258"/>
        </pc:sldMkLst>
        <pc:spChg chg="mod">
          <ac:chgData name="Choueiri, Samia" userId="b81b9bbb-c87f-490f-9bf9-c5942ec705de" providerId="ADAL" clId="{7FA5B06B-172D-4B88-BD14-3DAB9785FB6E}" dt="2026-03-16T13:25:11.878" v="19" actId="20577"/>
          <ac:spMkLst>
            <pc:docMk/>
            <pc:sldMk cId="0" sldId="258"/>
            <ac:spMk id="119" creationId="{00000000-0000-0000-0000-000000000000}"/>
          </ac:spMkLst>
        </pc:spChg>
      </pc:sldChg>
    </pc:docChg>
  </pc:docChgLst>
  <pc:docChgLst>
    <pc:chgData name="Choueiri, Samia" userId="b81b9bbb-c87f-490f-9bf9-c5942ec705de" providerId="ADAL" clId="{28651051-5F40-41E7-92BC-0B48539B80E0}"/>
    <pc:docChg chg="undo custSel modSld">
      <pc:chgData name="Choueiri, Samia" userId="b81b9bbb-c87f-490f-9bf9-c5942ec705de" providerId="ADAL" clId="{28651051-5F40-41E7-92BC-0B48539B80E0}" dt="2026-03-12T17:48:03.645" v="630"/>
      <pc:docMkLst>
        <pc:docMk/>
      </pc:docMkLst>
      <pc:sldChg chg="addSp delSp modSp mod">
        <pc:chgData name="Choueiri, Samia" userId="b81b9bbb-c87f-490f-9bf9-c5942ec705de" providerId="ADAL" clId="{28651051-5F40-41E7-92BC-0B48539B80E0}" dt="2026-03-12T17:28:30.937" v="562" actId="20577"/>
        <pc:sldMkLst>
          <pc:docMk/>
          <pc:sldMk cId="0" sldId="257"/>
        </pc:sldMkLst>
        <pc:spChg chg="mod">
          <ac:chgData name="Choueiri, Samia" userId="b81b9bbb-c87f-490f-9bf9-c5942ec705de" providerId="ADAL" clId="{28651051-5F40-41E7-92BC-0B48539B80E0}" dt="2026-03-12T17:27:09.392" v="550" actId="164"/>
          <ac:spMkLst>
            <pc:docMk/>
            <pc:sldMk cId="0" sldId="257"/>
            <ac:spMk id="2" creationId="{D4EAF1F1-673D-CBEE-5ADB-83514CBBE5B3}"/>
          </ac:spMkLst>
        </pc:spChg>
        <pc:spChg chg="add del mod">
          <ac:chgData name="Choueiri, Samia" userId="b81b9bbb-c87f-490f-9bf9-c5942ec705de" providerId="ADAL" clId="{28651051-5F40-41E7-92BC-0B48539B80E0}" dt="2026-03-12T17:27:30.548" v="551" actId="408"/>
          <ac:spMkLst>
            <pc:docMk/>
            <pc:sldMk cId="0" sldId="257"/>
            <ac:spMk id="8" creationId="{6BE25FCA-6D69-17FD-40D5-B6436A84101A}"/>
          </ac:spMkLst>
        </pc:spChg>
        <pc:spChg chg="mod">
          <ac:chgData name="Choueiri, Samia" userId="b81b9bbb-c87f-490f-9bf9-c5942ec705de" providerId="ADAL" clId="{28651051-5F40-41E7-92BC-0B48539B80E0}" dt="2026-03-12T17:27:30.548" v="551" actId="408"/>
          <ac:spMkLst>
            <pc:docMk/>
            <pc:sldMk cId="0" sldId="257"/>
            <ac:spMk id="9" creationId="{E0078BFE-4F3F-D7FE-78EB-398C701A5047}"/>
          </ac:spMkLst>
        </pc:spChg>
        <pc:spChg chg="mod">
          <ac:chgData name="Choueiri, Samia" userId="b81b9bbb-c87f-490f-9bf9-c5942ec705de" providerId="ADAL" clId="{28651051-5F40-41E7-92BC-0B48539B80E0}" dt="2026-03-12T17:26:52.494" v="548" actId="164"/>
          <ac:spMkLst>
            <pc:docMk/>
            <pc:sldMk cId="0" sldId="257"/>
            <ac:spMk id="10" creationId="{06F35CA6-60B4-8A53-C766-45344A7305DE}"/>
          </ac:spMkLst>
        </pc:spChg>
        <pc:spChg chg="mod">
          <ac:chgData name="Choueiri, Samia" userId="b81b9bbb-c87f-490f-9bf9-c5942ec705de" providerId="ADAL" clId="{28651051-5F40-41E7-92BC-0B48539B80E0}" dt="2026-03-12T17:28:30.937" v="562" actId="20577"/>
          <ac:spMkLst>
            <pc:docMk/>
            <pc:sldMk cId="0" sldId="257"/>
            <ac:spMk id="98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24:46.174" v="481" actId="2057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27:30.548" v="551" actId="408"/>
          <ac:spMkLst>
            <pc:docMk/>
            <pc:sldMk cId="0" sldId="257"/>
            <ac:spMk id="111" creationId="{00000000-0000-0000-0000-000000000000}"/>
          </ac:spMkLst>
        </pc:spChg>
        <pc:grpChg chg="add mod">
          <ac:chgData name="Choueiri, Samia" userId="b81b9bbb-c87f-490f-9bf9-c5942ec705de" providerId="ADAL" clId="{28651051-5F40-41E7-92BC-0B48539B80E0}" dt="2026-03-12T17:27:30.548" v="551" actId="408"/>
          <ac:grpSpMkLst>
            <pc:docMk/>
            <pc:sldMk cId="0" sldId="257"/>
            <ac:grpSpMk id="3" creationId="{B15EBA6C-A152-D631-219B-88C3D559ED79}"/>
          </ac:grpSpMkLst>
        </pc:grpChg>
        <pc:grpChg chg="add mod">
          <ac:chgData name="Choueiri, Samia" userId="b81b9bbb-c87f-490f-9bf9-c5942ec705de" providerId="ADAL" clId="{28651051-5F40-41E7-92BC-0B48539B80E0}" dt="2026-03-12T17:27:30.548" v="551" actId="408"/>
          <ac:grpSpMkLst>
            <pc:docMk/>
            <pc:sldMk cId="0" sldId="257"/>
            <ac:grpSpMk id="4" creationId="{F332E908-8ABC-B908-35A3-38006A100129}"/>
          </ac:grpSpMkLst>
        </pc:grpChg>
        <pc:grpChg chg="add mod">
          <ac:chgData name="Choueiri, Samia" userId="b81b9bbb-c87f-490f-9bf9-c5942ec705de" providerId="ADAL" clId="{28651051-5F40-41E7-92BC-0B48539B80E0}" dt="2026-03-12T17:26:52.494" v="548" actId="164"/>
          <ac:grpSpMkLst>
            <pc:docMk/>
            <pc:sldMk cId="0" sldId="257"/>
            <ac:grpSpMk id="5" creationId="{CB9755AF-B134-A6E5-8AAE-5D33B7004A54}"/>
          </ac:grpSpMkLst>
        </pc:grpChg>
        <pc:grpChg chg="add mod">
          <ac:chgData name="Choueiri, Samia" userId="b81b9bbb-c87f-490f-9bf9-c5942ec705de" providerId="ADAL" clId="{28651051-5F40-41E7-92BC-0B48539B80E0}" dt="2026-03-12T17:27:30.548" v="551" actId="408"/>
          <ac:grpSpMkLst>
            <pc:docMk/>
            <pc:sldMk cId="0" sldId="257"/>
            <ac:grpSpMk id="6" creationId="{61202E41-037A-57CC-BE40-6F8CB562021E}"/>
          </ac:grpSpMkLst>
        </pc:grpChg>
        <pc:grpChg chg="add mod">
          <ac:chgData name="Choueiri, Samia" userId="b81b9bbb-c87f-490f-9bf9-c5942ec705de" providerId="ADAL" clId="{28651051-5F40-41E7-92BC-0B48539B80E0}" dt="2026-03-12T17:27:30.548" v="551" actId="408"/>
          <ac:grpSpMkLst>
            <pc:docMk/>
            <pc:sldMk cId="0" sldId="257"/>
            <ac:grpSpMk id="7" creationId="{07A47EA2-2632-1A23-0FE8-E3D067D2B64F}"/>
          </ac:grpSpMkLst>
        </pc:grpChg>
        <pc:picChg chg="add del mod">
          <ac:chgData name="Choueiri, Samia" userId="b81b9bbb-c87f-490f-9bf9-c5942ec705de" providerId="ADAL" clId="{28651051-5F40-41E7-92BC-0B48539B80E0}" dt="2026-03-12T17:27:30.548" v="551" actId="408"/>
          <ac:picMkLst>
            <pc:docMk/>
            <pc:sldMk cId="0" sldId="257"/>
            <ac:picMk id="11" creationId="{EFF10BDD-2B4A-0270-6B16-BDD6DC03C955}"/>
          </ac:picMkLst>
        </pc:picChg>
        <pc:picChg chg="mod">
          <ac:chgData name="Choueiri, Samia" userId="b81b9bbb-c87f-490f-9bf9-c5942ec705de" providerId="ADAL" clId="{28651051-5F40-41E7-92BC-0B48539B80E0}" dt="2026-03-12T17:26:52.494" v="548" actId="164"/>
          <ac:picMkLst>
            <pc:docMk/>
            <pc:sldMk cId="0" sldId="257"/>
            <ac:picMk id="12" creationId="{B307ADAD-074E-DE0B-B19D-DE8E8BC736DA}"/>
          </ac:picMkLst>
        </pc:picChg>
        <pc:picChg chg="mod">
          <ac:chgData name="Choueiri, Samia" userId="b81b9bbb-c87f-490f-9bf9-c5942ec705de" providerId="ADAL" clId="{28651051-5F40-41E7-92BC-0B48539B80E0}" dt="2026-03-12T17:27:30.548" v="551" actId="408"/>
          <ac:picMkLst>
            <pc:docMk/>
            <pc:sldMk cId="0" sldId="257"/>
            <ac:picMk id="14" creationId="{79D99E06-41E2-C936-35A3-28B86C9D7137}"/>
          </ac:picMkLst>
        </pc:picChg>
        <pc:picChg chg="mod">
          <ac:chgData name="Choueiri, Samia" userId="b81b9bbb-c87f-490f-9bf9-c5942ec705de" providerId="ADAL" clId="{28651051-5F40-41E7-92BC-0B48539B80E0}" dt="2026-03-12T17:27:30.548" v="551" actId="408"/>
          <ac:picMkLst>
            <pc:docMk/>
            <pc:sldMk cId="0" sldId="257"/>
            <ac:picMk id="1026" creationId="{B69A9504-58A8-3DAD-1CD7-3E789C9EB32C}"/>
          </ac:picMkLst>
        </pc:picChg>
        <pc:picChg chg="mod">
          <ac:chgData name="Choueiri, Samia" userId="b81b9bbb-c87f-490f-9bf9-c5942ec705de" providerId="ADAL" clId="{28651051-5F40-41E7-92BC-0B48539B80E0}" dt="2026-03-12T17:27:09.392" v="550" actId="164"/>
          <ac:picMkLst>
            <pc:docMk/>
            <pc:sldMk cId="0" sldId="257"/>
            <ac:picMk id="1028" creationId="{27D12643-C5BB-33F5-410D-A3FC3E490C61}"/>
          </ac:picMkLst>
        </pc:picChg>
      </pc:sldChg>
      <pc:sldChg chg="addSp delSp modSp mod">
        <pc:chgData name="Choueiri, Samia" userId="b81b9bbb-c87f-490f-9bf9-c5942ec705de" providerId="ADAL" clId="{28651051-5F40-41E7-92BC-0B48539B80E0}" dt="2026-03-12T17:48:03.645" v="630"/>
        <pc:sldMkLst>
          <pc:docMk/>
          <pc:sldMk cId="0" sldId="258"/>
        </pc:sldMkLst>
        <pc:spChg chg="mod">
          <ac:chgData name="Choueiri, Samia" userId="b81b9bbb-c87f-490f-9bf9-c5942ec705de" providerId="ADAL" clId="{28651051-5F40-41E7-92BC-0B48539B80E0}" dt="2026-03-12T17:39:06.949" v="585" actId="20577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41:36.623" v="603" actId="20577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42:56.095" v="610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46:10.295" v="627" actId="6549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48:03.645" v="630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Choueiri, Samia" userId="b81b9bbb-c87f-490f-9bf9-c5942ec705de" providerId="ADAL" clId="{28651051-5F40-41E7-92BC-0B48539B80E0}" dt="2026-03-12T17:45:06.380" v="622" actId="20577"/>
          <ac:spMkLst>
            <pc:docMk/>
            <pc:sldMk cId="0" sldId="258"/>
            <ac:spMk id="122" creationId="{00000000-0000-0000-0000-000000000000}"/>
          </ac:spMkLst>
        </pc:spChg>
        <pc:picChg chg="add mod">
          <ac:chgData name="Choueiri, Samia" userId="b81b9bbb-c87f-490f-9bf9-c5942ec705de" providerId="ADAL" clId="{28651051-5F40-41E7-92BC-0B48539B80E0}" dt="2026-03-12T17:31:01.854" v="574" actId="1038"/>
          <ac:picMkLst>
            <pc:docMk/>
            <pc:sldMk cId="0" sldId="258"/>
            <ac:picMk id="3" creationId="{C5ECE662-5DFE-577D-E0EE-CC7860E9D5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2325cbd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a2325cbd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2325cbd1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2325cbd1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isfabric.ne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lue Half_Right Bullets (level 3)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5053200" y="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  <a:defRPr sz="13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81475" y="5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Half_Right Bullets (level 3)">
  <p:cSld name="CUSTOM_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053200" y="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  <a:defRPr sz="13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1475" y="5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lue Half_Left Bullets (level 3)">
  <p:cSld name="CUSTOM_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81200" y="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  <a:defRPr sz="13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053475" y="5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Half_Left Bullets (level 3)">
  <p:cSld name="CUSTOM_6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81200" y="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  <a:defRPr sz="13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○"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■"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53475" y="50"/>
            <a:ext cx="36333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None/>
              <a:defRPr sz="2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Background_Section Header (level 1)">
  <p:cSld name="CUSTOM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Background_Subsection Header &amp; Quotes (level 2)">
  <p:cSld name="CUSTOM_2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/>
          <p:nvPr/>
        </p:nvSpPr>
        <p:spPr>
          <a:xfrm>
            <a:off x="1096350" y="2491800"/>
            <a:ext cx="6951300" cy="10968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18287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3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46200" y="1628700"/>
            <a:ext cx="84516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1096350" y="2491800"/>
            <a:ext cx="6951300" cy="10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lue Background_Section Header (level 1)">
  <p:cSld name="CUSTOM_4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lue Background_Subsection Header &amp; Quotes (level 2)">
  <p:cSld name="CUSTOM_4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"/>
          <p:cNvSpPr/>
          <p:nvPr/>
        </p:nvSpPr>
        <p:spPr>
          <a:xfrm>
            <a:off x="1096350" y="2499450"/>
            <a:ext cx="6951300" cy="1096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5486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46200" y="1628700"/>
            <a:ext cx="84516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096350" y="2491800"/>
            <a:ext cx="69513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None/>
              <a:defRPr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Gray Background_Maps">
  <p:cSld name="CUSTOM_8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_Images &amp; Use Cases">
  <p:cSld name="CUSTOM_8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lue 2/3 Left">
  <p:cSld name="CUSTOM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CUSTOM_1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 txBox="1"/>
          <p:nvPr/>
        </p:nvSpPr>
        <p:spPr>
          <a:xfrm>
            <a:off x="1631800" y="742600"/>
            <a:ext cx="29451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You!</a:t>
            </a:r>
            <a:endParaRPr sz="3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" name="Google Shape;48;p13"/>
          <p:cNvSpPr txBox="1"/>
          <p:nvPr/>
        </p:nvSpPr>
        <p:spPr>
          <a:xfrm>
            <a:off x="1631800" y="1881500"/>
            <a:ext cx="4298400" cy="17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5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Questions?</a:t>
            </a:r>
            <a:r>
              <a:rPr lang="en" sz="182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2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Visit </a:t>
            </a:r>
            <a:r>
              <a:rPr lang="en" sz="1625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https://whatisfabric.net</a:t>
            </a:r>
            <a:r>
              <a:rPr lang="en" sz="182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2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5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Join the Community</a:t>
            </a:r>
            <a:endParaRPr sz="1825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https://bit.ly/m/FABRICtestbed</a:t>
            </a:r>
            <a:endParaRPr sz="1825">
              <a:solidFill>
                <a:schemeClr val="lt1"/>
              </a:solidFill>
            </a:endParaRPr>
          </a:p>
        </p:txBody>
      </p:sp>
      <p:pic>
        <p:nvPicPr>
          <p:cNvPr id="49" name="Google Shape;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9880" y="742600"/>
            <a:ext cx="1138911" cy="113888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/>
          <p:nvPr/>
        </p:nvSpPr>
        <p:spPr>
          <a:xfrm>
            <a:off x="7419375" y="1881500"/>
            <a:ext cx="13173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This work is funded by NSF grants CNS-1935966, CNS-2029261, CNS-2029235, CNS-2029200, CNS-2029260</a:t>
            </a:r>
            <a:endParaRPr sz="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" name="Google Shape;5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0576" y="3248502"/>
            <a:ext cx="992948" cy="992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2650" y="3528150"/>
            <a:ext cx="992950" cy="9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2/3 Left">
  <p:cSld name="CUSTOM_7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2/3 right">
  <p:cSld name="CUSTOM_9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_10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_1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3607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ABT Title Slide ">
  <p:cSld name="CUSTOM_8_1_1_2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8"/>
          <p:cNvSpPr/>
          <p:nvPr/>
        </p:nvSpPr>
        <p:spPr>
          <a:xfrm rot="5400000">
            <a:off x="6925025" y="678300"/>
            <a:ext cx="2555700" cy="1199100"/>
          </a:xfrm>
          <a:prstGeom prst="homePlate">
            <a:avLst>
              <a:gd name="adj" fmla="val 35529"/>
            </a:avLst>
          </a:prstGeom>
          <a:solidFill>
            <a:schemeClr val="accent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" name="Google Shape;64;p18"/>
          <p:cNvCxnSpPr/>
          <p:nvPr/>
        </p:nvCxnSpPr>
        <p:spPr>
          <a:xfrm>
            <a:off x="1885975" y="1119275"/>
            <a:ext cx="54108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" name="Google Shape;65;p18"/>
          <p:cNvCxnSpPr/>
          <p:nvPr/>
        </p:nvCxnSpPr>
        <p:spPr>
          <a:xfrm>
            <a:off x="4568200" y="1275875"/>
            <a:ext cx="0" cy="213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r ABT">
  <p:cSld name="CUSTOM_8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9"/>
          <p:cNvCxnSpPr/>
          <p:nvPr/>
        </p:nvCxnSpPr>
        <p:spPr>
          <a:xfrm>
            <a:off x="1885975" y="1119275"/>
            <a:ext cx="54108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1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0"/>
          <p:cNvSpPr txBox="1"/>
          <p:nvPr/>
        </p:nvSpPr>
        <p:spPr>
          <a:xfrm>
            <a:off x="1702950" y="1650275"/>
            <a:ext cx="5738100" cy="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FABRIC</a:t>
            </a:r>
            <a:endParaRPr sz="32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(an NSF Midscale CyberInfrastructure Project)</a:t>
            </a:r>
            <a:endParaRPr sz="18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" name="Google Shape;72;p20"/>
          <p:cNvCxnSpPr/>
          <p:nvPr/>
        </p:nvCxnSpPr>
        <p:spPr>
          <a:xfrm>
            <a:off x="1885975" y="2643275"/>
            <a:ext cx="54108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20"/>
          <p:cNvSpPr txBox="1">
            <a:spLocks noGrp="1"/>
          </p:cNvSpPr>
          <p:nvPr>
            <p:ph type="subTitle" idx="1"/>
          </p:nvPr>
        </p:nvSpPr>
        <p:spPr>
          <a:xfrm>
            <a:off x="2515650" y="2643275"/>
            <a:ext cx="41127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2178175" y="2980125"/>
            <a:ext cx="4826400" cy="7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 SemiBold"/>
              <a:buNone/>
              <a:defRPr sz="2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IT Demo Award Certificate_Blue">
  <p:cSld name="CUSTOM_12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/>
          <p:nvPr/>
        </p:nvSpPr>
        <p:spPr>
          <a:xfrm rot="5400000">
            <a:off x="6827375" y="775950"/>
            <a:ext cx="2751000" cy="1199100"/>
          </a:xfrm>
          <a:prstGeom prst="homePlate">
            <a:avLst>
              <a:gd name="adj" fmla="val 355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9264" y="904250"/>
            <a:ext cx="747208" cy="74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1"/>
          <p:cNvSpPr txBox="1"/>
          <p:nvPr/>
        </p:nvSpPr>
        <p:spPr>
          <a:xfrm>
            <a:off x="7665875" y="1575250"/>
            <a:ext cx="10740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This work is funded by NSF grants CNS-1935966, CNS-2029261, CNS-2029235, CNS-2029200, CNS-2029260</a:t>
            </a:r>
            <a:endParaRPr sz="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21"/>
          <p:cNvSpPr txBox="1"/>
          <p:nvPr/>
        </p:nvSpPr>
        <p:spPr>
          <a:xfrm>
            <a:off x="1904775" y="35025"/>
            <a:ext cx="54108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5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Best Demo Award</a:t>
            </a:r>
            <a:endParaRPr sz="325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Keeping Networks Innovative Together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1" name="Google Shape;81;p21"/>
          <p:cNvSpPr txBox="1">
            <a:spLocks noGrp="1"/>
          </p:cNvSpPr>
          <p:nvPr>
            <p:ph type="subTitle" idx="1"/>
          </p:nvPr>
        </p:nvSpPr>
        <p:spPr>
          <a:xfrm>
            <a:off x="1904775" y="1090850"/>
            <a:ext cx="5410800" cy="115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Montserrat"/>
              <a:buNone/>
              <a:defRPr sz="1900" b="1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82" name="Google Shape;82;p21"/>
          <p:cNvCxnSpPr/>
          <p:nvPr/>
        </p:nvCxnSpPr>
        <p:spPr>
          <a:xfrm>
            <a:off x="1885975" y="966875"/>
            <a:ext cx="5410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21"/>
          <p:cNvSpPr/>
          <p:nvPr/>
        </p:nvSpPr>
        <p:spPr>
          <a:xfrm>
            <a:off x="75" y="3334575"/>
            <a:ext cx="9144000" cy="836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9488" y="3334575"/>
            <a:ext cx="21050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1"/>
          <p:cNvSpPr txBox="1"/>
          <p:nvPr/>
        </p:nvSpPr>
        <p:spPr>
          <a:xfrm>
            <a:off x="2757288" y="3709725"/>
            <a:ext cx="36294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Ilya Baldin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Principle Investigator of FABRIC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" name="Google Shape;86;p21"/>
          <p:cNvCxnSpPr/>
          <p:nvPr/>
        </p:nvCxnSpPr>
        <p:spPr>
          <a:xfrm>
            <a:off x="3256638" y="3744125"/>
            <a:ext cx="263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21"/>
          <p:cNvSpPr txBox="1">
            <a:spLocks noGrp="1"/>
          </p:cNvSpPr>
          <p:nvPr>
            <p:ph type="subTitle" idx="2"/>
          </p:nvPr>
        </p:nvSpPr>
        <p:spPr>
          <a:xfrm>
            <a:off x="1857150" y="2882175"/>
            <a:ext cx="5429700" cy="4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○"/>
              <a:defRPr sz="1800">
                <a:solidFill>
                  <a:schemeClr val="dk2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.jpeg"/><Relationship Id="rId5" Type="http://schemas.openxmlformats.org/officeDocument/2006/relationships/image" Target="../media/image21.JPG"/><Relationship Id="rId4" Type="http://schemas.openxmlformats.org/officeDocument/2006/relationships/image" Target="../media/image2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/>
        </p:nvSpPr>
        <p:spPr>
          <a:xfrm>
            <a:off x="1738200" y="161725"/>
            <a:ext cx="566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50" dirty="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[FABRIC/KNIT12]</a:t>
            </a:r>
            <a:endParaRPr sz="3250" dirty="0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April 14-17, 2026</a:t>
            </a:r>
            <a:endParaRPr dirty="0"/>
          </a:p>
        </p:txBody>
      </p:sp>
      <p:sp>
        <p:nvSpPr>
          <p:cNvPr id="99" name="Google Shape;99;p23"/>
          <p:cNvSpPr txBox="1"/>
          <p:nvPr/>
        </p:nvSpPr>
        <p:spPr>
          <a:xfrm>
            <a:off x="119775" y="1135225"/>
            <a:ext cx="4352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NSF Program: </a:t>
            </a: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Office of Advanced Cyberinfrastructure (OAC)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23"/>
          <p:cNvSpPr txBox="1"/>
          <p:nvPr/>
        </p:nvSpPr>
        <p:spPr>
          <a:xfrm>
            <a:off x="4653750" y="1135225"/>
            <a:ext cx="2833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Program Area: </a:t>
            </a:r>
            <a:r>
              <a:rPr lang="en-US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Cybertraining, </a:t>
            </a:r>
            <a:r>
              <a:rPr lang="en-U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OAC Core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3"/>
          <p:cNvSpPr txBox="1"/>
          <p:nvPr/>
        </p:nvSpPr>
        <p:spPr>
          <a:xfrm>
            <a:off x="722883" y="1804829"/>
            <a:ext cx="7118789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000" dirty="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Accelerating Fault and Attack Detection in</a:t>
            </a:r>
            <a:br>
              <a:rPr lang="en-US" sz="2000" dirty="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2000" dirty="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Cyber-Physical Systems Using </a:t>
            </a:r>
            <a:r>
              <a:rPr lang="en-US" sz="2000" dirty="0" err="1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SmartNICs</a:t>
            </a:r>
            <a:r>
              <a:rPr lang="en-US" sz="2000" dirty="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and DPDK</a:t>
            </a:r>
          </a:p>
        </p:txBody>
      </p:sp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6533" y="407000"/>
            <a:ext cx="892674" cy="89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 txBox="1"/>
          <p:nvPr/>
        </p:nvSpPr>
        <p:spPr>
          <a:xfrm>
            <a:off x="7653413" y="1399474"/>
            <a:ext cx="1098900" cy="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Award No.</a:t>
            </a:r>
          </a:p>
          <a:p>
            <a:pPr lvl="0" algn="ctr"/>
            <a:r>
              <a:rPr lang="en-US" dirty="0">
                <a:solidFill>
                  <a:schemeClr val="bg1"/>
                </a:solidFill>
              </a:rPr>
              <a:t>2417823</a:t>
            </a:r>
            <a:r>
              <a:rPr lang="en" dirty="0">
                <a:solidFill>
                  <a:schemeClr val="bg1"/>
                </a:solidFill>
              </a:rPr>
              <a:t>,</a:t>
            </a:r>
            <a:br>
              <a:rPr lang="en" dirty="0">
                <a:solidFill>
                  <a:schemeClr val="bg1"/>
                </a:solidFill>
              </a:rPr>
            </a:br>
            <a:r>
              <a:rPr lang="en" dirty="0">
                <a:solidFill>
                  <a:schemeClr val="bg1"/>
                </a:solidFill>
              </a:rPr>
              <a:t>2403360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5EBA6C-A152-D631-219B-88C3D559ED79}"/>
              </a:ext>
            </a:extLst>
          </p:cNvPr>
          <p:cNvGrpSpPr/>
          <p:nvPr/>
        </p:nvGrpSpPr>
        <p:grpSpPr>
          <a:xfrm>
            <a:off x="3792957" y="2724462"/>
            <a:ext cx="1775866" cy="1993018"/>
            <a:chOff x="1980055" y="2759450"/>
            <a:chExt cx="1775866" cy="1993018"/>
          </a:xfrm>
        </p:grpSpPr>
        <p:sp>
          <p:nvSpPr>
            <p:cNvPr id="8" name="Google Shape;108;p23">
              <a:extLst>
                <a:ext uri="{FF2B5EF4-FFF2-40B4-BE49-F238E27FC236}">
                  <a16:creationId xmlns:a16="http://schemas.microsoft.com/office/drawing/2014/main" id="{6BE25FCA-6D69-17FD-40D5-B6436A84101A}"/>
                </a:ext>
              </a:extLst>
            </p:cNvPr>
            <p:cNvSpPr txBox="1"/>
            <p:nvPr/>
          </p:nvSpPr>
          <p:spPr>
            <a:xfrm>
              <a:off x="1980055" y="3936768"/>
              <a:ext cx="1775866" cy="8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 Mazloum</a:t>
              </a:r>
              <a:endParaRPr sz="12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Ph.D. Student</a:t>
              </a:r>
              <a:endParaRPr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University of South Carolina</a:t>
              </a:r>
              <a:endParaRPr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amazloum@email.sc.edu</a:t>
              </a:r>
              <a:endParaRPr sz="1200" dirty="0"/>
            </a:p>
          </p:txBody>
        </p:sp>
        <p:pic>
          <p:nvPicPr>
            <p:cNvPr id="11" name="Picture 8" descr="Mazloum">
              <a:extLst>
                <a:ext uri="{FF2B5EF4-FFF2-40B4-BE49-F238E27FC236}">
                  <a16:creationId xmlns:a16="http://schemas.microsoft.com/office/drawing/2014/main" id="{EFF10BDD-2B4A-0270-6B16-BDD6DC03C9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611"/>
            <a:stretch/>
          </p:blipFill>
          <p:spPr bwMode="auto">
            <a:xfrm>
              <a:off x="2049396" y="2759450"/>
              <a:ext cx="1264885" cy="122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B9755AF-B134-A6E5-8AAE-5D33B7004A54}"/>
              </a:ext>
            </a:extLst>
          </p:cNvPr>
          <p:cNvGrpSpPr/>
          <p:nvPr/>
        </p:nvGrpSpPr>
        <p:grpSpPr>
          <a:xfrm>
            <a:off x="180899" y="2749862"/>
            <a:ext cx="1775866" cy="2002606"/>
            <a:chOff x="180899" y="2749862"/>
            <a:chExt cx="1775866" cy="2002606"/>
          </a:xfrm>
        </p:grpSpPr>
        <p:sp>
          <p:nvSpPr>
            <p:cNvPr id="10" name="Google Shape;110;p23">
              <a:extLst>
                <a:ext uri="{FF2B5EF4-FFF2-40B4-BE49-F238E27FC236}">
                  <a16:creationId xmlns:a16="http://schemas.microsoft.com/office/drawing/2014/main" id="{06F35CA6-60B4-8A53-C766-45344A7305DE}"/>
                </a:ext>
              </a:extLst>
            </p:cNvPr>
            <p:cNvSpPr txBox="1"/>
            <p:nvPr/>
          </p:nvSpPr>
          <p:spPr>
            <a:xfrm>
              <a:off x="180899" y="3936768"/>
              <a:ext cx="1775866" cy="8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 b="1" dirty="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Samia Choueiri</a:t>
              </a:r>
              <a:endParaRPr sz="12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Ph.D. Student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University of South Carolina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choueiri@email.sc.edu</a:t>
              </a:r>
              <a:endParaRPr lang="en-US" sz="120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" name="Picture 11" descr="A person smiling at camera&#10;&#10;Description automatically generated">
              <a:extLst>
                <a:ext uri="{FF2B5EF4-FFF2-40B4-BE49-F238E27FC236}">
                  <a16:creationId xmlns:a16="http://schemas.microsoft.com/office/drawing/2014/main" id="{B307ADAD-074E-DE0B-B19D-DE8E8BC736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905" t="11415" r="6341"/>
            <a:stretch/>
          </p:blipFill>
          <p:spPr>
            <a:xfrm>
              <a:off x="276148" y="2749862"/>
              <a:ext cx="1151256" cy="12252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1202E41-037A-57CC-BE40-6F8CB562021E}"/>
              </a:ext>
            </a:extLst>
          </p:cNvPr>
          <p:cNvGrpSpPr/>
          <p:nvPr/>
        </p:nvGrpSpPr>
        <p:grpSpPr>
          <a:xfrm>
            <a:off x="5598985" y="2724462"/>
            <a:ext cx="1775865" cy="2028006"/>
            <a:chOff x="5616962" y="2724462"/>
            <a:chExt cx="1775865" cy="2028006"/>
          </a:xfrm>
        </p:grpSpPr>
        <p:sp>
          <p:nvSpPr>
            <p:cNvPr id="111" name="Google Shape;111;p23"/>
            <p:cNvSpPr txBox="1"/>
            <p:nvPr/>
          </p:nvSpPr>
          <p:spPr>
            <a:xfrm>
              <a:off x="5616962" y="3936768"/>
              <a:ext cx="1775865" cy="8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F9ECA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Elie Kfoury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Assistant Professor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University of South Carolina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ekfoury@email.sc.edu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/>
            </a:p>
          </p:txBody>
        </p:sp>
        <p:pic>
          <p:nvPicPr>
            <p:cNvPr id="14" name="Picture 13" descr="Elie Kfoury headshot">
              <a:extLst>
                <a:ext uri="{FF2B5EF4-FFF2-40B4-BE49-F238E27FC236}">
                  <a16:creationId xmlns:a16="http://schemas.microsoft.com/office/drawing/2014/main" id="{79D99E06-41E2-C936-35A3-28B86C9D71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2323" y="2724462"/>
              <a:ext cx="1076526" cy="1266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32E908-8ABC-B908-35A3-38006A100129}"/>
              </a:ext>
            </a:extLst>
          </p:cNvPr>
          <p:cNvGrpSpPr/>
          <p:nvPr/>
        </p:nvGrpSpPr>
        <p:grpSpPr>
          <a:xfrm>
            <a:off x="1986928" y="2730812"/>
            <a:ext cx="1775866" cy="2028152"/>
            <a:chOff x="3771339" y="2724316"/>
            <a:chExt cx="1775866" cy="2028152"/>
          </a:xfrm>
        </p:grpSpPr>
        <p:sp>
          <p:nvSpPr>
            <p:cNvPr id="9" name="Google Shape;109;p23">
              <a:extLst>
                <a:ext uri="{FF2B5EF4-FFF2-40B4-BE49-F238E27FC236}">
                  <a16:creationId xmlns:a16="http://schemas.microsoft.com/office/drawing/2014/main" id="{E0078BFE-4F3F-D7FE-78EB-398C701A5047}"/>
                </a:ext>
              </a:extLst>
            </p:cNvPr>
            <p:cNvSpPr txBox="1"/>
            <p:nvPr/>
          </p:nvSpPr>
          <p:spPr>
            <a:xfrm>
              <a:off x="3771339" y="3936768"/>
              <a:ext cx="1775866" cy="8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b="1" dirty="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Sergio Elizalde</a:t>
              </a:r>
              <a:endParaRPr sz="12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Ph.D. Student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University of South Carolina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elizalds@email.sc.edu</a:t>
              </a:r>
              <a:endParaRPr lang="en-US" sz="1200" dirty="0"/>
            </a:p>
          </p:txBody>
        </p:sp>
        <p:pic>
          <p:nvPicPr>
            <p:cNvPr id="1026" name="Picture 2" descr="Sergio Elizalde - Graduate Research And Teaching Assistant - University of  South Carolina | LinkedIn">
              <a:extLst>
                <a:ext uri="{FF2B5EF4-FFF2-40B4-BE49-F238E27FC236}">
                  <a16:creationId xmlns:a16="http://schemas.microsoft.com/office/drawing/2014/main" id="{B69A9504-58A8-3DAD-1CD7-3E789C9EB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2201" y="2724316"/>
              <a:ext cx="1264885" cy="1264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A47EA2-2632-1A23-0FE8-E3D067D2B64F}"/>
              </a:ext>
            </a:extLst>
          </p:cNvPr>
          <p:cNvGrpSpPr/>
          <p:nvPr/>
        </p:nvGrpSpPr>
        <p:grpSpPr>
          <a:xfrm>
            <a:off x="7405012" y="2730812"/>
            <a:ext cx="1775865" cy="2021656"/>
            <a:chOff x="7405012" y="2730812"/>
            <a:chExt cx="1775865" cy="2021656"/>
          </a:xfrm>
        </p:grpSpPr>
        <p:sp>
          <p:nvSpPr>
            <p:cNvPr id="2" name="Google Shape;111;p23">
              <a:extLst>
                <a:ext uri="{FF2B5EF4-FFF2-40B4-BE49-F238E27FC236}">
                  <a16:creationId xmlns:a16="http://schemas.microsoft.com/office/drawing/2014/main" id="{D4EAF1F1-673D-CBEE-5ADB-83514CBBE5B3}"/>
                </a:ext>
              </a:extLst>
            </p:cNvPr>
            <p:cNvSpPr txBox="1"/>
            <p:nvPr/>
          </p:nvSpPr>
          <p:spPr>
            <a:xfrm>
              <a:off x="7405012" y="3936768"/>
              <a:ext cx="1775865" cy="8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3F9ECA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Jorge </a:t>
              </a:r>
              <a:r>
                <a:rPr kumimoji="0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3F9ECA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Crichigno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F9ECA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Professor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University of South Carolina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Montserrat"/>
                  <a:ea typeface="Montserrat"/>
                  <a:cs typeface="Montserrat"/>
                  <a:sym typeface="Montserrat"/>
                </a:rPr>
                <a:t>jcrichigno@cec.sc.edu</a:t>
              </a:r>
              <a:endParaRPr sz="12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27D12643-C5BB-33F5-410D-A3FC3E490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4400" y="2730812"/>
              <a:ext cx="1266500" cy="1266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/>
        </p:nvSpPr>
        <p:spPr>
          <a:xfrm>
            <a:off x="1702950" y="126275"/>
            <a:ext cx="5738100" cy="99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50" b="0" i="0" u="none" strike="noStrike" kern="0" cap="none" spc="0" normalizeH="0" baseline="0" noProof="0" dirty="0">
                <a:ln>
                  <a:noFill/>
                </a:ln>
                <a:solidFill>
                  <a:srgbClr val="3F9ECA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[FABRIC/KNIT12]</a:t>
            </a:r>
          </a:p>
          <a:p>
            <a:pPr lvl="0" algn="ctr">
              <a:defRPr/>
            </a:pPr>
            <a:r>
              <a:rPr lang="en" sz="1850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April 14-17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3F9ECA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, 2026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24"/>
          <p:cNvSpPr/>
          <p:nvPr/>
        </p:nvSpPr>
        <p:spPr>
          <a:xfrm>
            <a:off x="48800" y="1227075"/>
            <a:ext cx="2850900" cy="185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Current State</a:t>
            </a:r>
            <a:endParaRPr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Cyber-physical systems (CPS) support critical infrastructure such as manufacturing and industrial automation.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Increasing IT/OT convergence exposes CPS networks to faults and cyberattacks and abnormal behavior in sensors, PLCs, or network traffic can disrupt processes.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Fast detection is essential to maintain system reliability and security.</a:t>
            </a:r>
          </a:p>
        </p:txBody>
      </p:sp>
      <p:sp>
        <p:nvSpPr>
          <p:cNvPr id="118" name="Google Shape;118;p24"/>
          <p:cNvSpPr/>
          <p:nvPr/>
        </p:nvSpPr>
        <p:spPr>
          <a:xfrm>
            <a:off x="6243525" y="1227075"/>
            <a:ext cx="2850900" cy="185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proposed system leverages </a:t>
            </a:r>
            <a:r>
              <a:rPr lang="en-US" sz="900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SmartNICs</a:t>
            </a: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DPDK for high-speed packet processing.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machine learning model is trained offline to detect abnormal behavior.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trained model is offloaded to the </a:t>
            </a:r>
            <a:r>
              <a:rPr lang="en-US" sz="900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SmartNIC</a:t>
            </a: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for in-network inference.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system enables detection of both faults and cyberattacks in the data plane.</a:t>
            </a:r>
          </a:p>
        </p:txBody>
      </p:sp>
      <p:sp>
        <p:nvSpPr>
          <p:cNvPr id="119" name="Google Shape;119;p24"/>
          <p:cNvSpPr/>
          <p:nvPr/>
        </p:nvSpPr>
        <p:spPr>
          <a:xfrm>
            <a:off x="6243525" y="3187375"/>
            <a:ext cx="2850900" cy="185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Impact</a:t>
            </a:r>
            <a:endParaRPr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proposed system enables low-latency detection of CPS faults and cyberattacks while processing industrial network traffic directly in the data plane using </a:t>
            </a:r>
            <a:r>
              <a:rPr lang="en-US" sz="900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SmartNIC</a:t>
            </a: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acceleration.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FABRIC resources are used to design, deploy, and evaluate the experiments, leveraging </a:t>
            </a:r>
            <a:r>
              <a:rPr lang="en-US" sz="900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SmartNICs</a:t>
            </a: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that support DPDK.</a:t>
            </a:r>
          </a:p>
        </p:txBody>
      </p:sp>
      <p:sp>
        <p:nvSpPr>
          <p:cNvPr id="120" name="Google Shape;120;p24"/>
          <p:cNvSpPr/>
          <p:nvPr/>
        </p:nvSpPr>
        <p:spPr>
          <a:xfrm>
            <a:off x="48800" y="3187375"/>
            <a:ext cx="2850900" cy="1852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endParaRPr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Cyber-physical systems require rapid detection of abnormal behavior, but traditional monitoring approaches rely on host-based processing that introduces latency and delays detection.</a:t>
            </a: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CPS environments generate high volumes of industrial network traffic and sensor data, making it difficult </a:t>
            </a: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 </a:t>
            </a:r>
            <a:r>
              <a:rPr lang="en-US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perform real-time detection</a:t>
            </a:r>
            <a:endParaRPr lang="en-US" sz="12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3142550" y="4371975"/>
            <a:ext cx="2850900" cy="66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Additional Information</a:t>
            </a:r>
            <a:endParaRPr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ontserrat"/>
              <a:buChar char="○"/>
            </a:pP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Keywords: DPDK, </a:t>
            </a:r>
            <a:r>
              <a:rPr lang="en-US" sz="900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SmartNIC</a:t>
            </a:r>
            <a:r>
              <a:rPr lang="en-US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Cyber-Physical Systems, Attack Detection</a:t>
            </a:r>
            <a:r>
              <a:rPr lang="en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9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CE662-5DFE-577D-E0EE-CC7860E9D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509" y="1196275"/>
            <a:ext cx="3016341" cy="311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BRIC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08BC3"/>
      </a:accent1>
      <a:accent2>
        <a:srgbClr val="46ABE3"/>
      </a:accent2>
      <a:accent3>
        <a:srgbClr val="3F9ECA"/>
      </a:accent3>
      <a:accent4>
        <a:srgbClr val="FFAB40"/>
      </a:accent4>
      <a:accent5>
        <a:srgbClr val="000000"/>
      </a:accent5>
      <a:accent6>
        <a:srgbClr val="000000"/>
      </a:accent6>
      <a:hlink>
        <a:srgbClr val="46AB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349</Words>
  <Application>Microsoft Office PowerPoint</Application>
  <PresentationFormat>On-screen Show (16:9)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Montserrat</vt:lpstr>
      <vt:lpstr>Arial</vt:lpstr>
      <vt:lpstr>Montserrat SemiBold</vt:lpstr>
      <vt:lpstr>FABRIC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Choueiri, Samia</cp:lastModifiedBy>
  <cp:revision>1</cp:revision>
  <dcterms:modified xsi:type="dcterms:W3CDTF">2026-03-17T01:46:58Z</dcterms:modified>
</cp:coreProperties>
</file>